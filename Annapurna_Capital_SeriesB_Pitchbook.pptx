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244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22441"/>
                </a:solidFill>
                <a:latin typeface="Calibri"/>
              </a:rPr>
              <a:t>Total Revenue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 Cr)</c:v>
                </c:pt>
              </c:strCache>
            </c:strRef>
          </c:tx>
          <c:spPr>
            <a:solidFill>
              <a:srgbClr val="0E6F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224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FY27E</c:v>
                  </c:pt>
                  <c:pt idx="4">
                    <c:v>FY28E</c:v>
                  </c:pt>
                  <c:pt idx="5">
                    <c:v>FY29E</c:v>
                  </c:pt>
                  <c:pt idx="6">
                    <c:v>FY30E</c:v>
                  </c:pt>
                  <c:pt idx="7">
                    <c:v>FY31E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5.4</c:v>
                </c:pt>
                <c:pt idx="1">
                  <c:v>16</c:v>
                </c:pt>
                <c:pt idx="2">
                  <c:v>44.6</c:v>
                </c:pt>
                <c:pt idx="3">
                  <c:v>63.5</c:v>
                </c:pt>
                <c:pt idx="4">
                  <c:v>104.7</c:v>
                </c:pt>
                <c:pt idx="5">
                  <c:v>160.8</c:v>
                </c:pt>
                <c:pt idx="6">
                  <c:v>229.2</c:v>
                </c:pt>
                <c:pt idx="7">
                  <c:v>314.3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0224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9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244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22441"/>
                </a:solidFill>
                <a:latin typeface="Calibri"/>
              </a:rPr>
              <a:t>EBITDA Margin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rgbClr val="E5A225"/>
            </a:solidFill>
            <a:ln w="31750" cap="flat">
              <a:solidFill>
                <a:srgbClr val="E5A225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2244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5A225"/>
              </a:solidFill>
              <a:ln w="9525" cap="flat">
                <a:solidFill>
                  <a:srgbClr val="E5A22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FY27E</c:v>
                  </c:pt>
                  <c:pt idx="4">
                    <c:v>FY28E</c:v>
                  </c:pt>
                  <c:pt idx="5">
                    <c:v>FY29E</c:v>
                  </c:pt>
                  <c:pt idx="6">
                    <c:v>FY30E</c:v>
                  </c:pt>
                  <c:pt idx="7">
                    <c:v>FY31E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-91.7</c:v>
                </c:pt>
                <c:pt idx="1">
                  <c:v>-43.9</c:v>
                </c:pt>
                <c:pt idx="2">
                  <c:v>-1.7</c:v>
                </c:pt>
                <c:pt idx="3">
                  <c:v>4</c:v>
                </c:pt>
                <c:pt idx="4">
                  <c:v>14</c:v>
                </c:pt>
                <c:pt idx="5">
                  <c:v>23</c:v>
                </c:pt>
                <c:pt idx="6">
                  <c:v>28.5</c:v>
                </c:pt>
                <c:pt idx="7">
                  <c:v>34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02244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9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03E5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6903720"/>
            <a:ext cx="5943600" cy="-1005840"/>
          </a:xfrm>
          <a:prstGeom prst="line">
            <a:avLst/>
          </a:prstGeom>
          <a:noFill/>
          <a:ln w="17780">
            <a:solidFill>
              <a:srgbClr val="E5A22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6903720"/>
            <a:ext cx="5943600" cy="-1005840"/>
          </a:xfrm>
          <a:prstGeom prst="line">
            <a:avLst/>
          </a:prstGeom>
          <a:noFill/>
          <a:ln w="17780">
            <a:solidFill>
              <a:srgbClr val="4A936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6903720"/>
            <a:ext cx="5943600" cy="-1005840"/>
          </a:xfrm>
          <a:prstGeom prst="line">
            <a:avLst/>
          </a:prstGeom>
          <a:noFill/>
          <a:ln w="17780">
            <a:solidFill>
              <a:srgbClr val="E5A22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6903720"/>
            <a:ext cx="5943600" cy="-1005840"/>
          </a:xfrm>
          <a:prstGeom prst="line">
            <a:avLst/>
          </a:prstGeom>
          <a:noFill/>
          <a:ln w="17780">
            <a:solidFill>
              <a:srgbClr val="4A936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0" y="6903720"/>
            <a:ext cx="5943600" cy="-1005840"/>
          </a:xfrm>
          <a:prstGeom prst="line">
            <a:avLst/>
          </a:prstGeom>
          <a:noFill/>
          <a:ln w="17780">
            <a:solidFill>
              <a:srgbClr val="E5A225">
                <a:alpha val="45000"/>
              </a:srgbClr>
            </a:solidFill>
            <a:prstDash val="solid"/>
          </a:ln>
        </p:spPr>
      </p:sp>
      <p:pic>
        <p:nvPicPr>
          <p:cNvPr id="8" name="Image 0" descr="/home/claude/pitchbook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777240"/>
            <a:ext cx="1920240" cy="9692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1965960"/>
            <a:ext cx="12188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ANNAPURNA CAPITAL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0" y="26060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400" kern="0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PVT. LTD.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71516" y="3200400"/>
            <a:ext cx="1645920" cy="0"/>
          </a:xfrm>
          <a:prstGeom prst="line">
            <a:avLst/>
          </a:prstGeom>
          <a:noFill/>
          <a:ln w="19050">
            <a:solidFill>
              <a:srgbClr val="E5A2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0" y="3346704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150" kern="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STORAGE  •  INSTANT CREDIT  •  BETTER PRICES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Investor Pitchbook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357116" y="4800600"/>
            <a:ext cx="3474720" cy="566928"/>
          </a:xfrm>
          <a:prstGeom prst="roundRect">
            <a:avLst>
              <a:gd name="adj" fmla="val 50000"/>
            </a:avLst>
          </a:prstGeom>
          <a:solidFill>
            <a:srgbClr val="E5A225"/>
          </a:solidFill>
          <a:ln/>
        </p:spPr>
      </p:sp>
      <p:sp>
        <p:nvSpPr>
          <p:cNvPr id="15" name="Text 12"/>
          <p:cNvSpPr/>
          <p:nvPr/>
        </p:nvSpPr>
        <p:spPr>
          <a:xfrm>
            <a:off x="4357116" y="48006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₹140 CRORE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0" y="56235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Agri-Fintech — Post-Harvest Financing  |  Pune, India  |  August 2026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Private &amp;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sell too early, at the worst price of the year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farmers routinely sell grain within weeks of harvest — when prices are lowest — because they need cash and have nowhere affordable to store their crop while prices recover.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3703320"/>
          </a:xfrm>
          <a:prstGeom prst="roundRect">
            <a:avLst>
              <a:gd name="adj" fmla="val 2051"/>
            </a:avLst>
          </a:prstGeom>
          <a:solidFill>
            <a:srgbClr val="0224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₹90,000+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 LOST ANNUALLY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distress selling of stored-grain crops across India every 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4846320"/>
            <a:ext cx="2286000" cy="0"/>
          </a:xfrm>
          <a:prstGeom prst="line">
            <a:avLst/>
          </a:prstGeom>
          <a:noFill/>
          <a:ln w="12700">
            <a:solidFill>
              <a:srgbClr val="E5A225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983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5577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produce is ever financed against a warehouse receipt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2423160"/>
            <a:ext cx="7223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688336"/>
            <a:ext cx="658368" cy="658368"/>
          </a:xfrm>
          <a:prstGeom prst="ellipse">
            <a:avLst/>
          </a:prstGeom>
          <a:solidFill>
            <a:srgbClr val="0E6F3A"/>
          </a:solidFill>
          <a:ln/>
        </p:spPr>
      </p:sp>
      <p:pic>
        <p:nvPicPr>
          <p:cNvPr id="14" name="Image 0" descr="/home/claude/pitchbook/icon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748" y="2773924"/>
            <a:ext cx="487192" cy="4871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77840" y="258775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Failure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577840" y="2935224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eNWR receipts are forgeable, and lenders cannot verify stored quantity or quality in real time — so banks price in heavy risk, or simply refuse to lend.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4434840" y="3849624"/>
            <a:ext cx="7223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4114800"/>
            <a:ext cx="658368" cy="658368"/>
          </a:xfrm>
          <a:prstGeom prst="ellipse">
            <a:avLst/>
          </a:prstGeom>
          <a:solidFill>
            <a:srgbClr val="0E6F3A"/>
          </a:solidFill>
          <a:ln/>
        </p:spPr>
      </p:sp>
      <p:pic>
        <p:nvPicPr>
          <p:cNvPr id="19" name="Image 1" descr="/home/claude/pitchbook/icon_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48" y="4200388"/>
            <a:ext cx="487192" cy="4871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401421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Failure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5577840" y="4361688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where a trustworthy warehouse exists, it is often too far for a smallholder to reach — so the receipt system never gets used at all.</a:t>
            </a:r>
            <a:endParaRPr lang="en-US" sz="1030" dirty="0"/>
          </a:p>
        </p:txBody>
      </p:sp>
      <p:sp>
        <p:nvSpPr>
          <p:cNvPr id="22" name="Shape 18"/>
          <p:cNvSpPr/>
          <p:nvPr/>
        </p:nvSpPr>
        <p:spPr>
          <a:xfrm>
            <a:off x="4434840" y="5330952"/>
            <a:ext cx="7223760" cy="1280160"/>
          </a:xfrm>
          <a:prstGeom prst="roundRect">
            <a:avLst>
              <a:gd name="adj" fmla="val 5714"/>
            </a:avLst>
          </a:prstGeom>
          <a:solidFill>
            <a:srgbClr val="0E6F3A"/>
          </a:solidFill>
          <a:ln/>
        </p:spPr>
      </p:sp>
      <p:sp>
        <p:nvSpPr>
          <p:cNvPr id="23" name="Text 19"/>
          <p:cNvSpPr/>
          <p:nvPr/>
        </p:nvSpPr>
        <p:spPr>
          <a:xfrm>
            <a:off x="4709160" y="5440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09160" y="5751576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eNWR is a proven regulatory instrument — no company has yet built the digital, trust-verified, farmer-usable rail that solves both trust and access failure at once. That is the gap Annapurna fills.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AnnaChain — borrowing against grain, as easy as gold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warehouse model — partner network + owned mini-warehouses — stitched together by four technology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74036" cy="2331720"/>
          </a:xfrm>
          <a:prstGeom prst="roundRect">
            <a:avLst>
              <a:gd name="adj" fmla="val 3529"/>
            </a:avLst>
          </a:prstGeom>
          <a:solidFill>
            <a:srgbClr val="F7F5EF"/>
          </a:solidFill>
          <a:ln/>
        </p:spPr>
      </p:sp>
      <p:sp>
        <p:nvSpPr>
          <p:cNvPr id="6" name="Shape 4"/>
          <p:cNvSpPr/>
          <p:nvPr/>
        </p:nvSpPr>
        <p:spPr>
          <a:xfrm>
            <a:off x="1469898" y="2514600"/>
            <a:ext cx="731520" cy="731520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7" name="Image 0" descr="/home/claude/pitchbook/icon_wif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996" y="26096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410712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IoT-Verified Warehousing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22082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confirm stored quantity and quality in real time, in both warehouse formats.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8708" y="2240280"/>
            <a:ext cx="2574036" cy="2331720"/>
          </a:xfrm>
          <a:prstGeom prst="roundRect">
            <a:avLst>
              <a:gd name="adj" fmla="val 3529"/>
            </a:avLst>
          </a:prstGeom>
          <a:solidFill>
            <a:srgbClr val="F7F5EF"/>
          </a:solidFill>
          <a:ln/>
        </p:spPr>
      </p:sp>
      <p:sp>
        <p:nvSpPr>
          <p:cNvPr id="11" name="Shape 8"/>
          <p:cNvSpPr/>
          <p:nvPr/>
        </p:nvSpPr>
        <p:spPr>
          <a:xfrm>
            <a:off x="4299966" y="2514600"/>
            <a:ext cx="731520" cy="731520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12" name="Image 1" descr="/home/claude/pitchbook/icon_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064" y="260969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3300" y="3410712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Blockchain-Anchored eNWR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1588" y="3931920"/>
            <a:ext cx="22082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WDRA-compliant, tamper-evident digital receipts replace forgeable paper.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08776" y="2240280"/>
            <a:ext cx="2574036" cy="2331720"/>
          </a:xfrm>
          <a:prstGeom prst="roundRect">
            <a:avLst>
              <a:gd name="adj" fmla="val 3529"/>
            </a:avLst>
          </a:prstGeom>
          <a:solidFill>
            <a:srgbClr val="F7F5EF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0034" y="2514600"/>
            <a:ext cx="731520" cy="731520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17" name="Image 2" descr="/home/claude/pitchbook/icon_credit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132" y="260969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410712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Credit Marketplace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91656" y="3931920"/>
            <a:ext cx="22082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borrow 70–75% of mandi price, disbursed in 24 hours via 11 partner banks/NBFCs.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38844" y="2240280"/>
            <a:ext cx="2574036" cy="2331720"/>
          </a:xfrm>
          <a:prstGeom prst="roundRect">
            <a:avLst>
              <a:gd name="adj" fmla="val 3529"/>
            </a:avLst>
          </a:prstGeom>
          <a:solidFill>
            <a:srgbClr val="F7F5EF"/>
          </a:solidFill>
          <a:ln/>
        </p:spPr>
      </p:sp>
      <p:sp>
        <p:nvSpPr>
          <p:cNvPr id="21" name="Shape 16"/>
          <p:cNvSpPr/>
          <p:nvPr/>
        </p:nvSpPr>
        <p:spPr>
          <a:xfrm>
            <a:off x="9960102" y="2514600"/>
            <a:ext cx="731520" cy="731520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22" name="Image 3" descr="/home/claude/pitchbook/icon_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200" y="260969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3436" y="3410712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“Sell Signal”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21724" y="3931920"/>
            <a:ext cx="22082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optimal sale timing and connects farmers directly to buyers.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2441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50292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nobody else has solved this: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977640" y="502920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requires running physical warehouse operations, a blockchain/regulatory-compliant registry, and a bank-grade lending marketplace all at once — most players attempt only one. Every loan is collateral-backed by verified physical stock, so credit risk is structurally lower than unsecured farmer lending.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MOAT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warehouse formats, one integrated 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691640"/>
            <a:ext cx="3794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691640"/>
            <a:ext cx="3794760" cy="3977640"/>
          </a:xfrm>
          <a:prstGeom prst="rect">
            <a:avLst/>
          </a:prstGeom>
          <a:solidFill>
            <a:srgbClr val="0224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17720" y="18562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WAREHOUSES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18562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MINI-WAREHOUSES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794760" cy="658368"/>
          </a:xfrm>
          <a:prstGeom prst="rect">
            <a:avLst/>
          </a:prstGeom>
          <a:solidFill>
            <a:srgbClr val="EFEDE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owned; Annapurna fits IoT sensors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8823960" y="22860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builds and owns directly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0080" y="29443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intensity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4436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823960" y="294436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Asset-heavy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3794760" cy="658368"/>
          </a:xfrm>
          <a:prstGeom prst="rect">
            <a:avLst/>
          </a:prstGeom>
          <a:solidFill>
            <a:srgbClr val="EFEDE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0273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deployed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0273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states with existing warehousing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823960" y="360273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Underpenetrated rural clusters with no adequate warehouse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40080" y="42611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26110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(5,000–10,000 t)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823960" y="426110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modular (~700 t average)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4919472"/>
            <a:ext cx="3794760" cy="658368"/>
          </a:xfrm>
          <a:prstGeom prst="rect">
            <a:avLst/>
          </a:prstGeom>
          <a:solidFill>
            <a:srgbClr val="EFEDE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1947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 Annapurna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91947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commission + SaaS/IoT fee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8823960" y="491947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commission + direct storage fee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0E6F3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064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 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331720" y="5806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Owned-warehouse-collateralized loans run at roughly half the NPA rate of partner-warehouse loans — Annapurna directly controls custody and quality.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re-rated 2.8x once Annapurna can build its own warehouse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0224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₹8,40,000 Cr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411376" y="2862072"/>
            <a:ext cx="3349447" cy="896112"/>
          </a:xfrm>
          <a:prstGeom prst="roundRect">
            <a:avLst>
              <a:gd name="adj" fmla="val 7143"/>
            </a:avLst>
          </a:prstGeom>
          <a:solidFill>
            <a:srgbClr val="0E6F3A"/>
          </a:solidFill>
          <a:ln/>
        </p:spPr>
      </p:sp>
      <p:sp>
        <p:nvSpPr>
          <p:cNvPr id="8" name="Text 6"/>
          <p:cNvSpPr/>
          <p:nvPr/>
        </p:nvSpPr>
        <p:spPr>
          <a:xfrm>
            <a:off x="1612544" y="2953512"/>
            <a:ext cx="29836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12544" y="3273552"/>
            <a:ext cx="29836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₹6,72,000 Cr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20367" y="3941064"/>
            <a:ext cx="2131466" cy="896112"/>
          </a:xfrm>
          <a:prstGeom prst="roundRect">
            <a:avLst>
              <a:gd name="adj" fmla="val 7143"/>
            </a:avLst>
          </a:prstGeom>
          <a:solidFill>
            <a:srgbClr val="E5A225"/>
          </a:solidFill>
          <a:ln/>
        </p:spPr>
      </p:sp>
      <p:sp>
        <p:nvSpPr>
          <p:cNvPr id="11" name="Text 9"/>
          <p:cNvSpPr/>
          <p:nvPr/>
        </p:nvSpPr>
        <p:spPr>
          <a:xfrm>
            <a:off x="2221535" y="4032504"/>
            <a:ext cx="17657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21535" y="4352544"/>
            <a:ext cx="17657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₹1,979 Cr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rebuilt figures — see methodology, right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17373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bottom-up + top-down cross-check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048256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FY26 production (foodgrain + oilseeds) × MSP-based price × 68% marketable-surplus factor = ₹7,85,541 Cr. Top-down: Agri GVA × storable-crop share = ₹8,60,000 Cr. Both converge with the case's stated ₹8,40,000 Cr.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943600" y="30175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rebuilt using the case's own coverage logic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328416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16+ states Annapurna's Series B build-out targets hold ~80% of national storable-crop surplus. 80% × independent TAM = ₹6,72,000 Cr — 2.8x the case's original ₹2,40,000 Cr, since owned warehouses no longer require a pre-existing partner nearby.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943600" y="429768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this model's own forecast, sized against the rebuild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608576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FY31E annual disbursement (₹1,979 Cr, from Task 1) is ~0.29% of independent SAM. The case's ₹6,000 Cr/yr aspiration is ~0.89% of independent SAM — still modest share-capture, not a stretch goal.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2244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623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CRITIQUE: 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562356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mini-warehouses doesn’t eliminate the density constraint on SAM — it trades a partner-availability constraint for a capital and build-out-pace constraint.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2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years of compounding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203E5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6" name="Image 0" descr="/home/claude/pitchbook/icon_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830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265,000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04495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farmers onboarded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28160" y="178308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203E58"/>
          </a:solidFill>
          <a:ln/>
        </p:spPr>
      </p:sp>
      <p:sp>
        <p:nvSpPr>
          <p:cNvPr id="10" name="Shape 7"/>
          <p:cNvSpPr/>
          <p:nvPr/>
        </p:nvSpPr>
        <p:spPr>
          <a:xfrm>
            <a:off x="4556760" y="2011680"/>
            <a:ext cx="548640" cy="548640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11" name="Image 1" descr="/home/claude/pitchbook/icon_hom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083" y="208300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6760" y="260604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 / 40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56760" y="304495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owned warehouses (cumulative)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07680" y="178308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203E5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6280" y="2011680"/>
            <a:ext cx="548640" cy="548640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16" name="Image 2" descr="/home/claude/pitchbook/icon_dollarsig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603" y="208300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6280" y="260604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₹390 Cr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336280" y="304495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loan value disbursed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203E58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21" name="Image 3" descr="/home/claude/pitchbook/icon_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395752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48056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1.6%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77240" y="491947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NPA (from 3.8% in FY24)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28160" y="36576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203E5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6760" y="3886200"/>
            <a:ext cx="548640" cy="548640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26" name="Image 4" descr="/home/claude/pitchbook/icon_repea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083" y="395752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6760" y="448056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556760" y="491947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borrower rate (Year 2+)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07680" y="36576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203E5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6280" y="3886200"/>
            <a:ext cx="548640" cy="548640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31" name="Image 5" descr="/home/claude/pitchbook/icon_trendingup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603" y="395752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6280" y="448056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34,800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336280" y="491947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borrowers in FY26 alone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pilot proof point: 18 mini-warehouses built in FY25 grew to 40 by FY26, reaching ~70,000 farmers who previously had zero warehouse access — the board’s evidence base for scaling with Series B.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 that get better as farmers stay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active borrower, FY26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035040" cy="2852928"/>
          </a:xfrm>
          <a:prstGeom prst="rect">
            <a:avLst/>
          </a:prstGeom>
          <a:solidFill>
            <a:srgbClr val="F7F5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Loan Ticket Size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20574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₹1,17,800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603504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328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80560" y="25328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6.31%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603504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0837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300837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₹2,650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603504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8386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 Borrower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34838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₹8,830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603504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593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(3.33-yr borrower life)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395935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₹29,404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603504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348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Period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80560" y="4434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 months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2057400"/>
            <a:ext cx="4663440" cy="2852928"/>
          </a:xfrm>
          <a:prstGeom prst="roundRect">
            <a:avLst>
              <a:gd name="adj" fmla="val 2885"/>
            </a:avLst>
          </a:prstGeom>
          <a:solidFill>
            <a:srgbClr val="022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7889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~11.1x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7406640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~3x threshold typically considered healthy for a lending-adjacent fintech model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5E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QUALITY DRIVES CREDIT QUALITY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Partner-warehouse NPA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669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4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84048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Owned-warehouse NPA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0" y="5669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53492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is collateral-backed by verified physical stock, so credit risk is structurally lower than unsecured farmer lending — and roughly halves again on owned warehouses.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HISTORY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rounds, each proving out the next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29968"/>
            <a:ext cx="2208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340864"/>
            <a:ext cx="2208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₹2.5 Cr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3364992"/>
            <a:ext cx="2208276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22082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20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₹14.0 Cr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2208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5 partner warehouses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78708" y="182880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588" y="2029968"/>
            <a:ext cx="2208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1588" y="2340864"/>
            <a:ext cx="2208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1588" y="274320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₹9.0 Cr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561588" y="3364992"/>
            <a:ext cx="2208276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1588" y="3474720"/>
            <a:ext cx="22082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61588" y="3703320"/>
            <a:ext cx="220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₹52.0 Cr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1588" y="4114800"/>
            <a:ext cx="2208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45 partner warehouses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8776" y="182880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2029968"/>
            <a:ext cx="2208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91656" y="2340864"/>
            <a:ext cx="2208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91656" y="274320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₹42.0 Cr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391656" y="3364992"/>
            <a:ext cx="2208276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474720"/>
            <a:ext cx="22082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91656" y="3703320"/>
            <a:ext cx="220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₹268.0 Cr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91656" y="4114800"/>
            <a:ext cx="2208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partner warehouses; pilot 18 owned mini-warehouses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38844" y="182880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E5A225"/>
          </a:solidFill>
          <a:ln/>
        </p:spPr>
      </p:sp>
      <p:sp>
        <p:nvSpPr>
          <p:cNvPr id="29" name="Text 27"/>
          <p:cNvSpPr/>
          <p:nvPr/>
        </p:nvSpPr>
        <p:spPr>
          <a:xfrm>
            <a:off x="9221724" y="2029968"/>
            <a:ext cx="2208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221724" y="2340864"/>
            <a:ext cx="2208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21724" y="274320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₹140 Cr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221724" y="3364992"/>
            <a:ext cx="2208276" cy="0"/>
          </a:xfrm>
          <a:prstGeom prst="line">
            <a:avLst/>
          </a:prstGeom>
          <a:noFill/>
          <a:ln w="9525">
            <a:solidFill>
              <a:srgbClr val="B88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1724" y="3474720"/>
            <a:ext cx="22082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21724" y="3703320"/>
            <a:ext cx="220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 Cr*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21724" y="4114800"/>
            <a:ext cx="2208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hybrid model nationally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*Indicative post-money at the recommended Series B valuation range (see Valuation).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2244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round hit its milestone on time — the Series A pilot (18→ 40 owned warehouses) is the direct evidence base for the Series B scale-up thesis.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breakeven to ~34% EBITDA margin by FY31E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635240" y="1691640"/>
          <a:ext cx="3977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9788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022441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8978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₹314 Cr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2240280" y="5897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FY31E Revenue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297680" y="589788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022441"/>
          </a:solidFill>
          <a:ln/>
        </p:spPr>
      </p:sp>
      <p:sp>
        <p:nvSpPr>
          <p:cNvPr id="10" name="Text 6"/>
          <p:cNvSpPr/>
          <p:nvPr/>
        </p:nvSpPr>
        <p:spPr>
          <a:xfrm>
            <a:off x="4480560" y="58978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989320" y="5897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Revenue CAGR (FY26–FY31E)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46720" y="589788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022441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0" y="58978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₹65 Cr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738360" y="5897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FY31E Net Income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capital-heavy model that becomes self-funding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02244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in Lakhs unless noted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68112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04304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40496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76688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11064240" cy="530352"/>
          </a:xfrm>
          <a:prstGeom prst="rect">
            <a:avLst/>
          </a:prstGeom>
          <a:solidFill>
            <a:srgbClr val="F7F5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14884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(₹ 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0" y="214884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6,346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68112" y="214884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10,468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04304" y="214884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16,078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0496" y="214884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22,921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76688" y="214884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31,429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267919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(₹ 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0" y="2679192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68112" y="2679192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04304" y="2679192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3,698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0496" y="2679192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6,532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76688" y="2679192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10,686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09544"/>
            <a:ext cx="11064240" cy="530352"/>
          </a:xfrm>
          <a:prstGeom prst="rect">
            <a:avLst/>
          </a:prstGeom>
          <a:solidFill>
            <a:srgbClr val="F7F5E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320954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31920" y="3209544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68112" y="3209544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04304" y="3209544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0496" y="3209544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76688" y="3209544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373989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(₹ L)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931920" y="37398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(452)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68112" y="37398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04304" y="37398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40496" y="37398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3,647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76688" y="37398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6,463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270248"/>
            <a:ext cx="11064240" cy="530352"/>
          </a:xfrm>
          <a:prstGeom prst="rect">
            <a:avLst/>
          </a:prstGeom>
          <a:solidFill>
            <a:srgbClr val="F7F5E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5800" y="427024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to Firm (₹ L)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931920" y="427024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(2,140)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68112" y="427024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(1,882)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04304" y="427024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(860)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540496" y="427024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076688" y="427024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" y="480060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Cash (₹ L)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931920" y="48006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13,247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68112" y="48006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11,407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04304" y="48006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10,567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40496" y="48006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11,220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076688" y="48006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14,369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330952"/>
            <a:ext cx="11064240" cy="0"/>
          </a:xfrm>
          <a:prstGeom prst="line">
            <a:avLst/>
          </a:prstGeom>
          <a:noFill/>
          <a:ln w="19050">
            <a:solidFill>
              <a:srgbClr val="02244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48640" y="55595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balances every year across FY27E–FY31E. Net income turns positive in FY28E; free cash flow to the firm turns positive in FY30E as the mini-warehouse capex cycle matures.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Stress-testing the base case: a bear 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assumptions flexed downward simultaneously — disbursement growth, take rate, gross margin, and storage revenue all worse than base; capex running over budget.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402336"/>
          </a:xfrm>
          <a:prstGeom prst="rect">
            <a:avLst/>
          </a:prstGeom>
          <a:solidFill>
            <a:srgbClr val="0224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(FY27E → FY31E)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0" y="19202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0" y="19202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22576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Disbursement Volume (₹ Cr)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 → 1,979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 → 1,781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0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lower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761488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761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→ 7.1%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2761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 → 6.6%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0" y="2761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bps lower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— cost overruns (₹ 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→ 5,100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2,530 → 5,610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0" y="3200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higher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63931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— higher cost of revenue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639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→ 74%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0" y="3639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→ 69%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0" y="3639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pts lower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78224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78224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Storage Revenue (₹ L / warehouse / yr)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40782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→ 25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40782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→ 22.5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26880" y="40782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lower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517136"/>
            <a:ext cx="11064240" cy="0"/>
          </a:xfrm>
          <a:prstGeom prst="line">
            <a:avLst/>
          </a:prstGeom>
          <a:noFill/>
          <a:ln w="19050">
            <a:solidFill>
              <a:srgbClr val="0224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718304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022441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791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₹314 Cr → ₹276 Cr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" y="5138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FY31E Revenue (~12% lower)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97680" y="4718304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022441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4791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 → 29%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0560" y="5138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FY31E EBITDA Margin (~5 pts lower)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46720" y="4718304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022441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4791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C3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FY27E → FY28E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29600" y="5138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breakeven slips one year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5559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EBITDA recomputed using the same Revenue Build and Income Statement formulas as the base case, holding warehouse counts, opex ratios, and financing terms constant — isolating the impact of the five stressed assumptions above. Full scenario toggle (Base / Bull / Bear) lives in the Valuation tab.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2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₹140 Crore to scale the hybrid model nationally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74036" cy="3566160"/>
          </a:xfrm>
          <a:prstGeom prst="roundRect">
            <a:avLst>
              <a:gd name="adj" fmla="val 3197"/>
            </a:avLst>
          </a:prstGeom>
          <a:solidFill>
            <a:srgbClr val="203E58"/>
          </a:solidFill>
          <a:ln/>
        </p:spPr>
      </p:sp>
      <p:sp>
        <p:nvSpPr>
          <p:cNvPr id="5" name="Shape 3"/>
          <p:cNvSpPr/>
          <p:nvPr/>
        </p:nvSpPr>
        <p:spPr>
          <a:xfrm>
            <a:off x="1506474" y="2176272"/>
            <a:ext cx="658368" cy="658368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6" name="Image 0" descr="/home/claude/pitchbook/icon_hom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062" y="2261860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2574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2574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~₹77 Cr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3886200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Network Expansion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4462272"/>
            <a:ext cx="22082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partner network to 16+ states and build ~250 additional owned mini-warehouses over the forecast window.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378708" y="1920240"/>
            <a:ext cx="2574036" cy="3566160"/>
          </a:xfrm>
          <a:prstGeom prst="roundRect">
            <a:avLst>
              <a:gd name="adj" fmla="val 3197"/>
            </a:avLst>
          </a:prstGeom>
          <a:solidFill>
            <a:srgbClr val="203E58"/>
          </a:solidFill>
          <a:ln/>
        </p:spPr>
      </p:sp>
      <p:sp>
        <p:nvSpPr>
          <p:cNvPr id="12" name="Shape 9"/>
          <p:cNvSpPr/>
          <p:nvPr/>
        </p:nvSpPr>
        <p:spPr>
          <a:xfrm>
            <a:off x="4336542" y="2176272"/>
            <a:ext cx="658368" cy="658368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13" name="Image 1" descr="/home/claude/pitchbook/icon_cpu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130" y="2261860"/>
            <a:ext cx="487192" cy="487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78708" y="2971800"/>
            <a:ext cx="2574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378708" y="3429000"/>
            <a:ext cx="2574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~₹21 Cr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43300" y="3886200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Price-Prediction Engine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61588" y="4462272"/>
            <a:ext cx="22082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the marketplace’s sell-signal product.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6208776" y="1920240"/>
            <a:ext cx="2574036" cy="3566160"/>
          </a:xfrm>
          <a:prstGeom prst="roundRect">
            <a:avLst>
              <a:gd name="adj" fmla="val 3197"/>
            </a:avLst>
          </a:prstGeom>
          <a:solidFill>
            <a:srgbClr val="203E58"/>
          </a:solidFill>
          <a:ln/>
        </p:spPr>
      </p:sp>
      <p:sp>
        <p:nvSpPr>
          <p:cNvPr id="19" name="Shape 15"/>
          <p:cNvSpPr/>
          <p:nvPr/>
        </p:nvSpPr>
        <p:spPr>
          <a:xfrm>
            <a:off x="7166610" y="2176272"/>
            <a:ext cx="658368" cy="658368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20" name="Image 2" descr="/home/claude/pitchbook/icon_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98" y="2261860"/>
            <a:ext cx="487192" cy="487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08776" y="2971800"/>
            <a:ext cx="2574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208776" y="3429000"/>
            <a:ext cx="2574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~₹21 Cr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73368" y="3886200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Operations Scale-Up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391656" y="4462272"/>
            <a:ext cx="22082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field operations, engineering, and compliance headcount.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9038844" y="1920240"/>
            <a:ext cx="2574036" cy="3566160"/>
          </a:xfrm>
          <a:prstGeom prst="roundRect">
            <a:avLst>
              <a:gd name="adj" fmla="val 3197"/>
            </a:avLst>
          </a:prstGeom>
          <a:solidFill>
            <a:srgbClr val="203E58"/>
          </a:solidFill>
          <a:ln/>
        </p:spPr>
      </p:sp>
      <p:sp>
        <p:nvSpPr>
          <p:cNvPr id="26" name="Shape 21"/>
          <p:cNvSpPr/>
          <p:nvPr/>
        </p:nvSpPr>
        <p:spPr>
          <a:xfrm>
            <a:off x="9996678" y="2176272"/>
            <a:ext cx="658368" cy="658368"/>
          </a:xfrm>
          <a:prstGeom prst="ellipse">
            <a:avLst/>
          </a:prstGeom>
          <a:solidFill>
            <a:srgbClr val="EEC371"/>
          </a:solidFill>
          <a:ln/>
        </p:spPr>
      </p:sp>
      <p:pic>
        <p:nvPicPr>
          <p:cNvPr id="27" name="Image 3" descr="/home/claude/pitchbook/icon_dollarsig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266" y="2261860"/>
            <a:ext cx="487192" cy="4871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38844" y="2971800"/>
            <a:ext cx="2574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9038844" y="3429000"/>
            <a:ext cx="2574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C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~₹21 Cr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203436" y="3886200"/>
            <a:ext cx="22448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Runway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221724" y="4462272"/>
            <a:ext cx="22082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against the capital-heavy hybrid model’s cash intensity.</a:t>
            </a:r>
            <a:endParaRPr lang="en-US" sz="930" dirty="0"/>
          </a:p>
        </p:txBody>
      </p:sp>
      <p:sp>
        <p:nvSpPr>
          <p:cNvPr id="32" name="Text 26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(₹140 Cr) assumed to close at the start of FY27, following a ₹2.5 Cr Pre-Seed, ₹9.0 Cr Seed, and ₹42.0 Cr Series A.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range: ₹560 Cr pre-money / ₹700 Cr post-money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(3-STATEMENT FCFF)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₹176 Cr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14.8%  |  Terminal growth 6.0%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34564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explicit FCFF turns positive in FY30E; Gordon-growth terminal value.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50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2240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₹315 – 1,183 Cr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55080" y="2852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EV/Revenue range: 2.0x–7.5x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FY31E revenue of ₹314 Cr, discounted to present value at the DCF discount rate.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5A2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valuation range ₹176–1,183 Cr (avg. ₹558 Cr)  →  Final terms: ₹560 Cr pre-money  /  ₹700 Cr post-money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PRO-FORMA POST-SERIES B CAP TABLE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(Deshmukh, Iyer, Patil)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5084064"/>
            <a:ext cx="6537960" cy="201168"/>
          </a:xfrm>
          <a:prstGeom prst="rect">
            <a:avLst/>
          </a:prstGeom>
          <a:solidFill>
            <a:srgbClr val="E7E5D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023360" y="5084064"/>
            <a:ext cx="6203798" cy="201168"/>
          </a:xfrm>
          <a:prstGeom prst="rect">
            <a:avLst/>
          </a:prstGeom>
          <a:solidFill>
            <a:srgbClr val="0E6F3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652760" y="5029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4132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ESOP Pool (incl. Series B top-up)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5468112"/>
            <a:ext cx="6537960" cy="201168"/>
          </a:xfrm>
          <a:prstGeom prst="rect">
            <a:avLst/>
          </a:prstGeom>
          <a:solidFill>
            <a:srgbClr val="E7E5D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023360" y="5468112"/>
            <a:ext cx="1467409" cy="201168"/>
          </a:xfrm>
          <a:prstGeom prst="rect">
            <a:avLst/>
          </a:prstGeom>
          <a:solidFill>
            <a:srgbClr val="0E6F3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652760" y="54132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972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Investors (Angel, AgriTech Fund, Growth Fund)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0" y="5852160"/>
            <a:ext cx="6537960" cy="201168"/>
          </a:xfrm>
          <a:prstGeom prst="rect">
            <a:avLst/>
          </a:prstGeom>
          <a:solidFill>
            <a:srgbClr val="E7E5D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023360" y="5852160"/>
            <a:ext cx="3951834" cy="201168"/>
          </a:xfrm>
          <a:prstGeom prst="rect">
            <a:avLst/>
          </a:prstGeom>
          <a:solidFill>
            <a:srgbClr val="0E6F3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652760" y="579729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1813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Investor (new)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6236208"/>
            <a:ext cx="6537960" cy="201168"/>
          </a:xfrm>
          <a:prstGeom prst="rect">
            <a:avLst/>
          </a:prstGeom>
          <a:solidFill>
            <a:srgbClr val="E7E5DD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023360" y="6236208"/>
            <a:ext cx="2905760" cy="201168"/>
          </a:xfrm>
          <a:prstGeom prst="rect">
            <a:avLst/>
          </a:prstGeom>
          <a:solidFill>
            <a:srgbClr val="0E6F3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652760" y="61813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who have run the physical, digital, and regulatory pieces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3566160"/>
          </a:xfrm>
          <a:prstGeom prst="roundRect">
            <a:avLst>
              <a:gd name="adj" fmla="val 2348"/>
            </a:avLst>
          </a:prstGeom>
          <a:solidFill>
            <a:srgbClr val="F7F5EF"/>
          </a:solidFill>
          <a:ln/>
        </p:spPr>
      </p:sp>
      <p:sp>
        <p:nvSpPr>
          <p:cNvPr id="5" name="Shape 3"/>
          <p:cNvSpPr/>
          <p:nvPr/>
        </p:nvSpPr>
        <p:spPr>
          <a:xfrm>
            <a:off x="1898904" y="2212848"/>
            <a:ext cx="804672" cy="804672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6" name="Image 0" descr="/home/claude/pitchbook/icon_briefc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511" y="2317455"/>
            <a:ext cx="595457" cy="5954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Deshmukh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3511296"/>
            <a:ext cx="313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41120" y="3840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5A225"/>
          </a:solidFill>
          <a:ln/>
        </p:spPr>
      </p:sp>
      <p:sp>
        <p:nvSpPr>
          <p:cNvPr id="10" name="Text 7"/>
          <p:cNvSpPr/>
          <p:nvPr/>
        </p:nvSpPr>
        <p:spPr>
          <a:xfrm>
            <a:off x="1341120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Ex-NCDEX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297680"/>
            <a:ext cx="304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commodity-markets and exchange background — understands price discovery, mandi mechanics, and how farmers actually make selling decisions.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328160" y="1920240"/>
            <a:ext cx="3505200" cy="3566160"/>
          </a:xfrm>
          <a:prstGeom prst="roundRect">
            <a:avLst>
              <a:gd name="adj" fmla="val 2348"/>
            </a:avLst>
          </a:prstGeom>
          <a:solidFill>
            <a:srgbClr val="F7F5EF"/>
          </a:solidFill>
          <a:ln/>
        </p:spPr>
      </p:sp>
      <p:sp>
        <p:nvSpPr>
          <p:cNvPr id="13" name="Shape 10"/>
          <p:cNvSpPr/>
          <p:nvPr/>
        </p:nvSpPr>
        <p:spPr>
          <a:xfrm>
            <a:off x="5678424" y="2212848"/>
            <a:ext cx="804672" cy="804672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14" name="Image 1" descr="/home/claude/pitchbook/icon_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031" y="2317455"/>
            <a:ext cx="595457" cy="59545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1040" y="315468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Iyer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11040" y="3511296"/>
            <a:ext cx="313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120640" y="3840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5A225"/>
          </a:solidFill>
          <a:ln/>
        </p:spPr>
      </p:sp>
      <p:sp>
        <p:nvSpPr>
          <p:cNvPr id="18" name="Text 14"/>
          <p:cNvSpPr/>
          <p:nvPr/>
        </p:nvSpPr>
        <p:spPr>
          <a:xfrm>
            <a:off x="5120640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Ex-Blockchain / IoT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56760" y="4297680"/>
            <a:ext cx="304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AnnaChain stack — IoT sensor verification and the blockchain-anchored eNWR registry — from the ground up.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8107680" y="1920240"/>
            <a:ext cx="3505200" cy="3566160"/>
          </a:xfrm>
          <a:prstGeom prst="roundRect">
            <a:avLst>
              <a:gd name="adj" fmla="val 2348"/>
            </a:avLst>
          </a:prstGeom>
          <a:solidFill>
            <a:srgbClr val="F7F5EF"/>
          </a:solidFill>
          <a:ln/>
        </p:spPr>
      </p:sp>
      <p:sp>
        <p:nvSpPr>
          <p:cNvPr id="21" name="Shape 17"/>
          <p:cNvSpPr/>
          <p:nvPr/>
        </p:nvSpPr>
        <p:spPr>
          <a:xfrm>
            <a:off x="9457944" y="2212848"/>
            <a:ext cx="804672" cy="804672"/>
          </a:xfrm>
          <a:prstGeom prst="ellipse">
            <a:avLst/>
          </a:prstGeom>
          <a:solidFill>
            <a:srgbClr val="022441"/>
          </a:solidFill>
          <a:ln/>
        </p:spPr>
      </p:sp>
      <p:pic>
        <p:nvPicPr>
          <p:cNvPr id="22" name="Image 2" descr="/home/claude/pitchbook/icon_ho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551" y="2317455"/>
            <a:ext cx="595457" cy="59545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90560" y="315468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Suresh Patil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290560" y="3511296"/>
            <a:ext cx="313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00160" y="3840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5A225"/>
          </a:solidFill>
          <a:ln/>
        </p:spPr>
      </p:sp>
      <p:sp>
        <p:nvSpPr>
          <p:cNvPr id="26" name="Text 21"/>
          <p:cNvSpPr/>
          <p:nvPr/>
        </p:nvSpPr>
        <p:spPr>
          <a:xfrm>
            <a:off x="8900160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Ex-FCI, 15 yrs warehousing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336280" y="4297680"/>
            <a:ext cx="304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decades in physical grain storage and logistics — runs warehouse operations, quality control, and the field team.</a:t>
            </a:r>
            <a:endParaRPr lang="en-US" sz="980" dirty="0"/>
          </a:p>
        </p:txBody>
      </p:sp>
      <p:sp>
        <p:nvSpPr>
          <p:cNvPr id="28" name="Text 2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exchange-side price discovery, ground-level warehouse operations, and the technology to verify and finance stored grain — the three disciplines this model requires at once.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5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— and how it's mitigated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782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502920" cy="502920"/>
          </a:xfrm>
          <a:prstGeom prst="ellipse">
            <a:avLst/>
          </a:prstGeom>
          <a:solidFill>
            <a:srgbClr val="B3423D"/>
          </a:solidFill>
          <a:ln/>
        </p:spPr>
      </p:sp>
      <p:pic>
        <p:nvPicPr>
          <p:cNvPr id="6" name="Image 0" descr="/home/claude/pitchbook/icon_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52" y="2040484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274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Risk on Owned Warehouses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~250 new mini-warehouses is capital- and operations-intensive.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822960" y="3090672"/>
            <a:ext cx="486918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182112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2960" y="3410712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pilot (18→40 units) proved the playbook; ~55% of Series B funds this line item directly.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95060" y="1737360"/>
            <a:ext cx="541782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51092" y="1975104"/>
            <a:ext cx="502920" cy="502920"/>
          </a:xfrm>
          <a:prstGeom prst="ellipse">
            <a:avLst/>
          </a:prstGeom>
          <a:solidFill>
            <a:srgbClr val="B3423D"/>
          </a:solidFill>
          <a:ln/>
        </p:spPr>
      </p:sp>
      <p:pic>
        <p:nvPicPr>
          <p:cNvPr id="14" name="Image 1" descr="/home/claude/pitchbook/icon_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72" y="2040484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09460" y="1920240"/>
            <a:ext cx="4274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Partner Concentration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69380" y="2523744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third-party partner warehouses in 8 states creates counterparty exposure.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6469380" y="3090672"/>
            <a:ext cx="486918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69380" y="3182112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69380" y="3410712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Owned-warehouse mix rises from 40 to 290 units by FY31E, structurally reducing partner dependence.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4178808"/>
            <a:ext cx="541782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4672" y="4416552"/>
            <a:ext cx="502920" cy="502920"/>
          </a:xfrm>
          <a:prstGeom prst="ellipse">
            <a:avLst/>
          </a:prstGeom>
          <a:solidFill>
            <a:srgbClr val="B3423D"/>
          </a:solidFill>
          <a:ln/>
        </p:spPr>
      </p:sp>
      <p:pic>
        <p:nvPicPr>
          <p:cNvPr id="22" name="Image 2" descr="/home/claude/pitchbook/icon_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4481932"/>
            <a:ext cx="372161" cy="37216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4361688"/>
            <a:ext cx="4274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Commodity Price Risk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22960" y="4965192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grain price swings affect collateral value and loan-to-value ratios.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822960" y="5532120"/>
            <a:ext cx="486918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" y="5623560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22960" y="5852160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capped at 70–75% of mandi price; IoT verification supports real-time collateral monitoring.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195060" y="4178808"/>
            <a:ext cx="541782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51092" y="4416552"/>
            <a:ext cx="502920" cy="502920"/>
          </a:xfrm>
          <a:prstGeom prst="ellipse">
            <a:avLst/>
          </a:prstGeom>
          <a:solidFill>
            <a:srgbClr val="B3423D"/>
          </a:solidFill>
          <a:ln/>
        </p:spPr>
      </p:sp>
      <p:pic>
        <p:nvPicPr>
          <p:cNvPr id="30" name="Image 3" descr="/home/claude/pitchbook/icon_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472" y="4481932"/>
            <a:ext cx="372161" cy="37216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09460" y="4361688"/>
            <a:ext cx="4274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Response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469380" y="4965192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agri-fintech or banking players could replicate parts of the stack.</a:t>
            </a:r>
            <a:endParaRPr lang="en-US" sz="980" dirty="0"/>
          </a:p>
        </p:txBody>
      </p:sp>
      <p:sp>
        <p:nvSpPr>
          <p:cNvPr id="33" name="Shape 27"/>
          <p:cNvSpPr/>
          <p:nvPr/>
        </p:nvSpPr>
        <p:spPr>
          <a:xfrm>
            <a:off x="6469380" y="5532120"/>
            <a:ext cx="486918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69380" y="5623560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6469380" y="5852160"/>
            <a:ext cx="48691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is the full stack — warehousing + blockchain registry + lending marketplace — operating together.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2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book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384" y="868680"/>
            <a:ext cx="1463040" cy="740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574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rail every farmer deserves.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271516" y="2926080"/>
            <a:ext cx="1645920" cy="0"/>
          </a:xfrm>
          <a:prstGeom prst="line">
            <a:avLst/>
          </a:prstGeom>
          <a:noFill/>
          <a:ln w="19050">
            <a:solidFill>
              <a:srgbClr val="E5A22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3200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Deshmukh, CEO  •  Rohan Iyer, CTO  •  Suresh Patil, COO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Capital Technologies Pvt. Ltd.  •  Pune, Maharashtra, India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57116" y="42976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E5A225"/>
          </a:solidFill>
          <a:ln/>
        </p:spPr>
      </p:sp>
      <p:sp>
        <p:nvSpPr>
          <p:cNvPr id="8" name="Text 5"/>
          <p:cNvSpPr/>
          <p:nvPr/>
        </p:nvSpPr>
        <p:spPr>
          <a:xfrm>
            <a:off x="4357116" y="4297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22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— ₹140 CRORE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Private &amp;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2026-08-24T10:36:41Z</dcterms:created>
  <dcterms:modified xsi:type="dcterms:W3CDTF">2026-08-24T10:36:41Z</dcterms:modified>
</cp:coreProperties>
</file>